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38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E31C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E31C5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5532120" y="1371600"/>
            <a:ext cx="1097280" cy="1097280"/>
          </a:xfrm>
          <a:prstGeom prst="teardrop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870448" y="1783080"/>
            <a:ext cx="420624" cy="420624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834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LONDON AIRBNB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Analyst Portfolio Project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Kaushiki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55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this analysis answers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32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tools, and cleaning process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Analysis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10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Borough-level and room-type pricing patterns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Structure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087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distribution, availability, hosts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864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6418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London's Airbnb listings to understand pricing behavior, market structure, and host activity across the city.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46304" cy="146304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35915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boroughs command the highest prices, and which have the most supply?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46304" cy="146304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313639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room type (entire home vs private room) influence pricing?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146304" cy="146304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9136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pricing relate to how often a listing is booked or reviewed?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46304" cy="146304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6908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market dominated by individual hosts or large-scale operators?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FF1F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(insideairbnb.com)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FF1F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listings.csv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92,799 raw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FF1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9680" y="18288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FF1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(Jupyter notebook)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976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raw listings were loaded, cleaned of missing/invalid values, capped for extreme price outliers, then explored through univariate and bivariate visual analysis.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FFF1F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48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92,799 rows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columns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Removed neighbourhood_group (100% empty)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Removed license (100% empty)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Dropped rows with missing price (~30,400)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Capped price at the 99th percentile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Converted last_review to date format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38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61,774 rows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columns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0175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column is fully populated or intentionally left blank where a listing genuinely has no reviews. This is the dataset used for all analysis in this deck.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Expensive Boroughs</a:t>
            </a:r>
            <a:endParaRPr lang="en-US" sz="3000" dirty="0"/>
          </a:p>
        </p:txBody>
      </p:sp>
      <p:pic>
        <p:nvPicPr>
          <p:cNvPr id="3" name="Image 0" descr="chart1_price_by_boroug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40664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371600"/>
            <a:ext cx="3383280" cy="4846320"/>
          </a:xfrm>
          <a:prstGeom prst="roundRect">
            <a:avLst>
              <a:gd name="adj" fmla="val 3243"/>
            </a:avLst>
          </a:prstGeom>
          <a:solidFill>
            <a:srgbClr val="FFF1F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45820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£371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avg. price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35661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London tops pricing at roughly £371/night on average, more than double the citywide median — driven by its financial-district, corporate-stay demand.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by Borough</a:t>
            </a:r>
            <a:endParaRPr lang="en-US" sz="3000" dirty="0"/>
          </a:p>
        </p:txBody>
      </p:sp>
      <p:pic>
        <p:nvPicPr>
          <p:cNvPr id="3" name="Image 0" descr="chart4_listings_per_boroug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40664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371600"/>
            <a:ext cx="3383280" cy="4846320"/>
          </a:xfrm>
          <a:prstGeom prst="roundRect">
            <a:avLst>
              <a:gd name="adj" fmla="val 3243"/>
            </a:avLst>
          </a:prstGeom>
          <a:solidFill>
            <a:srgbClr val="FFF1F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45820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Westminster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listed borough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35661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Westminster leads supply with 8,000+ listings — but it isn't the priciest borough, showing that high listing volume doesn't always mean the highest rates.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Type Distribution</a:t>
            </a:r>
            <a:endParaRPr lang="en-US" sz="3000" dirty="0"/>
          </a:p>
        </p:txBody>
      </p:sp>
      <p:pic>
        <p:nvPicPr>
          <p:cNvPr id="3" name="Image 0" descr="chart2_room_typ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40664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371600"/>
            <a:ext cx="3383280" cy="4846320"/>
          </a:xfrm>
          <a:prstGeom prst="roundRect">
            <a:avLst>
              <a:gd name="adj" fmla="val 3243"/>
            </a:avLst>
          </a:prstGeom>
          <a:solidFill>
            <a:srgbClr val="FFF1F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45820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67.3%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 share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35661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homes/apartments dominate at 67.3% of all listings, while shared and hotel rooms together make up under 1% — London's Airbnb market is overwhelmingly whole-property rentals.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by Room Type</a:t>
            </a:r>
            <a:endParaRPr lang="en-US" sz="3000" dirty="0"/>
          </a:p>
        </p:txBody>
      </p:sp>
      <p:pic>
        <p:nvPicPr>
          <p:cNvPr id="3" name="Image 0" descr="chart5_price_by_roomtyp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40664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371600"/>
            <a:ext cx="3383280" cy="4846320"/>
          </a:xfrm>
          <a:prstGeom prst="roundRect">
            <a:avLst>
              <a:gd name="adj" fmla="val 3243"/>
            </a:avLst>
          </a:prstGeom>
          <a:solidFill>
            <a:srgbClr val="FFF1F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45820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210312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homes carry both a higher median price and a wider price spread than private rooms, confirming room type is one of the strongest price drivers in this market.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Distribution</a:t>
            </a:r>
            <a:endParaRPr lang="en-US" sz="3000" dirty="0"/>
          </a:p>
        </p:txBody>
      </p:sp>
      <p:pic>
        <p:nvPicPr>
          <p:cNvPr id="3" name="Image 0" descr="chart3_price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40664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371600"/>
            <a:ext cx="3383280" cy="4846320"/>
          </a:xfrm>
          <a:prstGeom prst="roundRect">
            <a:avLst>
              <a:gd name="adj" fmla="val 3243"/>
            </a:avLst>
          </a:prstGeom>
          <a:solidFill>
            <a:srgbClr val="FFF1F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45820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£179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nightly price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35661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heavily right-skewed: most listings cluster between £80–£300/night, with a long tail of premium listings pulling the average above the median.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 vs Price</a:t>
            </a:r>
            <a:endParaRPr lang="en-US" sz="3000" dirty="0"/>
          </a:p>
        </p:txBody>
      </p:sp>
      <p:pic>
        <p:nvPicPr>
          <p:cNvPr id="3" name="Image 0" descr="chart6_availability_vs_pr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40664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371600"/>
            <a:ext cx="3383280" cy="4846320"/>
          </a:xfrm>
          <a:prstGeom prst="roundRect">
            <a:avLst>
              <a:gd name="adj" fmla="val 3243"/>
            </a:avLst>
          </a:prstGeom>
          <a:solidFill>
            <a:srgbClr val="FFF1F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45820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days/yr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availability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35661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only a very weak positive relationship (r ≈ 0.07) between price and yearly availability — pricing alone does not explain how often a listing is open for booking.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 vs Price</a:t>
            </a:r>
            <a:endParaRPr lang="en-US" sz="3000" dirty="0"/>
          </a:p>
        </p:txBody>
      </p:sp>
      <p:pic>
        <p:nvPicPr>
          <p:cNvPr id="3" name="Image 0" descr="chart7_reviews_vs_pr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40664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371600"/>
            <a:ext cx="3383280" cy="4846320"/>
          </a:xfrm>
          <a:prstGeom prst="roundRect">
            <a:avLst>
              <a:gd name="adj" fmla="val 3243"/>
            </a:avLst>
          </a:prstGeom>
          <a:solidFill>
            <a:srgbClr val="FFF1F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45820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210312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negative correlation (r ≈ -0.09) suggests cheaper listings tend to accumulate slightly more reviews — likely reflecting higher booking frequency at lower price points.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Hosts by Listings</a:t>
            </a:r>
            <a:endParaRPr lang="en-US" sz="3000" dirty="0"/>
          </a:p>
        </p:txBody>
      </p:sp>
      <p:pic>
        <p:nvPicPr>
          <p:cNvPr id="3" name="Image 0" descr="chart8_top_hos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40664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371600"/>
            <a:ext cx="3383280" cy="4846320"/>
          </a:xfrm>
          <a:prstGeom prst="roundRect">
            <a:avLst>
              <a:gd name="adj" fmla="val 3243"/>
            </a:avLst>
          </a:prstGeom>
          <a:solidFill>
            <a:srgbClr val="FFF1F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45820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host's listings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35661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host manages 463 listings — a clear sign that part of London's Airbnb supply comes from professional, large-scale property management rather than individual hosts.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332720" cy="822960"/>
          </a:xfrm>
          <a:prstGeom prst="roundRect">
            <a:avLst>
              <a:gd name="adj" fmla="val 11111"/>
            </a:avLst>
          </a:prstGeom>
          <a:solidFill>
            <a:srgbClr val="FFF1F3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64208"/>
            <a:ext cx="420624" cy="420624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36192"/>
            <a:ext cx="928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drives price more than volume — City of London is priciest, Westminster has the most supply, and they aren't the same borough.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10332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596896"/>
            <a:ext cx="420624" cy="420624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596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468880"/>
            <a:ext cx="928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is a major price lever — entire homes command higher and more variable prices than private rooms.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328416"/>
            <a:ext cx="10332720" cy="822960"/>
          </a:xfrm>
          <a:prstGeom prst="roundRect">
            <a:avLst>
              <a:gd name="adj" fmla="val 11111"/>
            </a:avLst>
          </a:prstGeom>
          <a:solidFill>
            <a:srgbClr val="FFF1F3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529584"/>
            <a:ext cx="420624" cy="420624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529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401568"/>
            <a:ext cx="928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whole-property dominated — 67.3% of listings are entire homes; shared/hotel rooms are negligible.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61104"/>
            <a:ext cx="10332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462272"/>
            <a:ext cx="420624" cy="420624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334256"/>
            <a:ext cx="928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weakly relates to booking activity — availability and reviews both show only weak correlation with price.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193792"/>
            <a:ext cx="10332720" cy="822960"/>
          </a:xfrm>
          <a:prstGeom prst="roundRect">
            <a:avLst>
              <a:gd name="adj" fmla="val 11111"/>
            </a:avLst>
          </a:prstGeom>
          <a:solidFill>
            <a:srgbClr val="FFF1F3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394960"/>
            <a:ext cx="420624" cy="420624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266944"/>
            <a:ext cx="928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hosting is present at scale — a top host manages 463 listings, pointing to commercial property management, not just individual homeowners.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38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3657600" cy="3657600"/>
          </a:xfrm>
          <a:prstGeom prst="ellipse">
            <a:avLst/>
          </a:prstGeom>
          <a:solidFill>
            <a:srgbClr val="E31C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474720" cy="3474720"/>
          </a:xfrm>
          <a:prstGeom prst="ellipse">
            <a:avLst/>
          </a:prstGeom>
          <a:solidFill>
            <a:srgbClr val="E31C5F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Hosts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entire-home listings in high-demand boroughs like City of London or Westminster to maximize pricing power.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boroughs on both price AND supply — high-price, low-supply boroughs may signal underserved demand.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Platforms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price-to-booking correlation suggests other factors (photos, reviews, location) drive bookings more than price alone — worth deeper study.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2026-09-10T11:28:55Z</dcterms:created>
  <dcterms:modified xsi:type="dcterms:W3CDTF">2026-09-10T11:28:55Z</dcterms:modified>
</cp:coreProperties>
</file>